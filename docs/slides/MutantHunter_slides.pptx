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Kill rate</c:v>
                </c:pt>
              </c:strCache>
            </c:strRef>
          </c:tx>
          <c:spPr>
            <a:solidFill>
              <a:srgbClr val="7C5CD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5C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6.1</c:v>
                </c:pt>
                <c:pt idx="1">
                  <c:v>6.1</c:v>
                </c:pt>
                <c:pt idx="2">
                  <c:v>7.7</c:v>
                </c:pt>
              </c:numLit>
            </c:plus>
            <c:minus>
              <c:numLit>
                <c:formatCode>General</c:formatCode>
                <c:ptCount val="3"/>
                <c:pt idx="0">
                  <c:v>7.5</c:v>
                </c:pt>
                <c:pt idx="1">
                  <c:v>7.6</c:v>
                </c:pt>
                <c:pt idx="2">
                  <c:v>8.3</c:v>
                </c:pt>
              </c:numLit>
            </c:minus>
            <c:spPr>
              <a:ln w="22225" cap="rnd">
                <a:solidFill>
                  <a:srgbClr val="1E1B3A"/>
                </a:solidFill>
                <a:round/>
              </a:ln>
            </c:spPr>
          </c:errBars>
          <c:cat>
            <c:multiLvlStrRef>
              <c:f>Sheet1!$A$2:$A$4</c:f>
              <c:multiLvlStrCache>
                <c:ptCount val="3"/>
                <c:lvl>
                  <c:pt idx="0">
                    <c:v>MH  + MutantHunter</c:v>
                  </c:pt>
                  <c:pt idx="1">
                    <c:v>B1  + plain Bob prompt</c:v>
                  </c:pt>
                  <c:pt idx="2">
                    <c:v>B0  human tests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77.3</c:v>
                </c:pt>
                <c:pt idx="2">
                  <c:v>60.3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E1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Kill rate</c:v>
                </c:pt>
              </c:strCache>
            </c:strRef>
          </c:tx>
          <c:spPr>
            <a:solidFill>
              <a:srgbClr val="7C5CD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5C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5.3</c:v>
                </c:pt>
                <c:pt idx="1">
                  <c:v>6.1</c:v>
                </c:pt>
                <c:pt idx="2">
                  <c:v>7.2</c:v>
                </c:pt>
              </c:numLit>
            </c:plus>
            <c:minus>
              <c:numLit>
                <c:formatCode>General</c:formatCode>
                <c:ptCount val="3"/>
                <c:pt idx="0">
                  <c:v>7.0</c:v>
                </c:pt>
                <c:pt idx="1">
                  <c:v>7.5</c:v>
                </c:pt>
                <c:pt idx="2">
                  <c:v>8.1</c:v>
                </c:pt>
              </c:numLit>
            </c:minus>
            <c:spPr>
              <a:ln w="22225" cap="rnd">
                <a:solidFill>
                  <a:srgbClr val="1E1B3A"/>
                </a:solidFill>
                <a:round/>
              </a:ln>
            </c:spPr>
          </c:errBars>
          <c:cat>
            <c:multiLvlStrRef>
              <c:f>Sheet1!$A$2:$A$4</c:f>
              <c:multiLvlStrCache>
                <c:ptCount val="3"/>
                <c:lvl>
                  <c:pt idx="0">
                    <c:v>MH  + MutantHunter</c:v>
                  </c:pt>
                  <c:pt idx="1">
                    <c:v>B1  + plain Bob prompt</c:v>
                  </c:pt>
                  <c:pt idx="2">
                    <c:v>B0  human tests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82.2</c:v>
                </c:pt>
                <c:pt idx="1">
                  <c:v>76.7</c:v>
                </c:pt>
                <c:pt idx="2">
                  <c:v>65.8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E1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2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Bobcoins</c:v>
                </c:pt>
              </c:strCache>
            </c:strRef>
          </c:tx>
          <c:spPr>
            <a:solidFill>
              <a:srgbClr val="7C5C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E1B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5C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D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MutantHunter</c:v>
                  </c:pt>
                  <c:pt idx="1">
                    <c:v>Plain prompt (B1)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37.5</c:v>
                </c:pt>
                <c:pt idx="1">
                  <c:v>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600" u="none">
                  <a:solidFill>
                    <a:srgbClr val="1E1B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E1B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MutantHunter finds the bugs a test suite misses, writes tests that catch them, and proves the gain on mutants the agents never saw. It is an IBM Bob skill plus a deterministic Python harness, evaluated on the python-validators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python-validators, url.py has 91.9% line and branch coverage, yet the human tests kill only 35 of 58 injected mutants. Across the 10 weakest modules, 155 of 481 mutants survive. A plain AI prompt helps, but it writes tests that pin down whatever the code does today, including its bugs: in finance it noticed the broken ISIN check and wrote tests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in Bob runs .bob/skills/mutant-hunter/SKILL.md. 1: mutanthunter mutate injects mutants into an isolated copy; only split A (half, chosen by a seeded hash) is shown to agents. 2: a broad subagent and a spec subagent run in parallel; the spec one reads the module's RFC, ISO or Wikipedia PDF, writes numbered rules and derives expected results from the spec. 3: mutanthunter check runs every new test; a test that fails on the current code is never deleted but becomes a suspected spec violation with a category. 4: a targeted subagent attacks remaining split-A survivors. 5: after generation is frozen, tests are scored once on hidden split B and on exam C, mutant operators that did not exist while the tests were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mode: Bob read the design and wrote docs/track-a-plan.md, splitting the work into ST1 to ST9. Agent mode: Bob wrote all product code (harness, statistics, dashboard generator, replay, exam C, 128 unit tests) and fixed defects we found. Skill: .bob/skills/mutant-hunter/SKILL.md, run on 6 modules. Rules: .bob/rules/testing.md. Parallel subagents: broad + spec per module plus a targeted one for url, 13 in total. Document understanding: 10 spec PDFs (RFC 3986, 5321, 5322, 1123, 952; Wikipedia ISIN, CUSIP, SEDOL, cron, MAC address) became 137 numbered rules cited by the tests. 22 tasks (Evan 8, chu 14), about 88.4 Bobcoins.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B is the hidden half of the mutants, never shown to the agents, scored once after test generation was frozen. Main modules url, finance, cron, email: 141 mutants. B0 human tests 85 killed, 60.3% (52.0-68.0). B1 human + plain prompt 109, 77.3% (69.7-83.4). MH 110, 78.0% (70.5-84.1). McNemar B1 vs MH: 2 killed only by B1, 3 only by MH, p = 1.00. This is a tie. Extra modules: 17/19 for all three suites.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C uses mutant operators written after the tests were frozen, scored once. Main modules, 146 mutants: B0 96 killed, 65.8% (57.7-73.0); B1 112, 76.7% (69.2-82.8); MH 120, 82.2% (75.2-87.5). McNemar B1 vs MH: 1 only by B1, 9 only by MH, p = 0.0215. We ran four McNemar tests; after Bonferroni this is not significant, so we read it as a trend, not a win. Extra modules on exam C: 14/33, 25/33, 26/33.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 replay: each upstream fix commit is reverted and the tests are run on the pre-fix and fixed code. The meaningful rows are the two extra-set bugs that today's human tests still miss: 402b351 (mac_address accepted mixed ':' and '-' separators) and 41f3d6d (hostname rejected single-character labels). MutantHunter's tests catch both; the plain-prompt B1 tests also catch both. On the 8 main rows of url and email (spec-ambiguous 1231f6a excluded), human 7/8, MH 7/8, B1 5/8; this is context only because tests written today encode today's fixed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 subagents logged 13 suspected violations. We reviewed each by reading the code and searching upstream issues: 9 entries confirmed, which are 5 distinct bugs, and 4 rejected as design choices. The ISIN check digit bug is known upstream as issue #440; the other four are not reported upstream. All five are still on upstream master as of 2026-09-26. In contrast, the plain B1 prompt wrote tests around the ISIN flaw and asserted that a quoted local part with a space must be rejected.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Cost: the 6 MutantHunter runs used 37.5 Bobcoins (median 6.1 per module, median 9.2 minutes); the 6 plain B1 prompts used 2.9 Bobcoins, about 13 times less. Limits: Bobcoin budget allowed 6 of the 12 planned modules (4 of 10 main) and the targeted subagent ran only for url; on split B MH does not beat the plain prompt; the exam C advantage is not significant after correcting for four tests; one target project, one seed, simple mutation operators, and equivalent mutants detected automatically only for the falsy-preserving case. Recorded manually outside Bob: the cron test count, the review of suspected violations and a small dashboard layout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Evan built the tool, skill and test generation; chu ran the evaluation, the dashboard and the video. Repository: https://github.com/hanlinji4002/MutantHunter. Dashboard: https://hanlinji4002.github.io/MutantHunter/. Takeaway: spec-derived tests turn disagreements with the specification into reviewable bug reports instead of silently encoding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hanlinji4002/MutantHunter" TargetMode="External"/><Relationship Id="rId6" Type="http://schemas.openxmlformats.org/officeDocument/2006/relationships/hyperlink" Target="https://hanlinji4002.github.io/MutantHunter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image" Target="../media/image-10-4.png"/><Relationship Id="rId7" Type="http://schemas.openxmlformats.org/officeDocument/2006/relationships/image" Target="../media/image-10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0"/>
            <a:ext cx="4967935" cy="6858000"/>
          </a:xfrm>
          <a:prstGeom prst="rect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25232" y="1453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10448" y="1453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95664" y="1453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0880" y="1453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66096" y="1453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1312" y="145389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25232" y="20391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0448" y="20391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95664" y="20391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0880" y="20391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66096" y="20391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51312" y="20391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25232" y="2624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10448" y="2624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95664" y="2624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0880" y="2624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66096" y="2624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51312" y="2624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5232" y="32095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0448" y="32095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95664" y="32095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0880" y="32095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66096" y="32095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51312" y="32095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25232" y="3794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10448" y="3794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95664" y="3794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80880" y="3794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66096" y="3794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951312" y="37947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25232" y="43799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10448" y="43799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95664" y="43799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80880" y="43799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6096" y="43799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51312" y="437997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25232" y="4965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10448" y="4965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95664" y="4965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80880" y="4965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66096" y="4965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51312" y="496519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3A3466"/>
          </a:solidFill>
          <a:ln w="12700">
            <a:solidFill>
              <a:srgbClr val="3A34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24848" y="1783080"/>
            <a:ext cx="950976" cy="950976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00336" y="1545336"/>
            <a:ext cx="914" cy="38039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00336" y="2591410"/>
            <a:ext cx="914" cy="38039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7104" y="2258568"/>
            <a:ext cx="380390" cy="914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333177" y="2258568"/>
            <a:ext cx="380390" cy="914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1417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HACKATHON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178308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6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01752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bugs a test suite misses, writes tests that catch them, and proves the gain on mutants the agents never saw.</a:t>
            </a:r>
            <a:endParaRPr lang="en-US" sz="22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4617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IBM Bob skill plus a deterministic Python harness, run on the python-validators library.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57607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</a:t>
            </a:r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tool, skill, test generation     </a:t>
            </a:r>
            <a:pPr indent="0" marL="0">
              <a:buNone/>
            </a:pPr>
            <a:r>
              <a:rPr lang="en-US" sz="1300" b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</a:t>
            </a:r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evaluation, dashboard, video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not the same as catching bugs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42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branch coverage of url.py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58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50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bugs (mutants) survive its human tests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41464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53528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5592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7656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89720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01784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13848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25912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37976" y="1645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1464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53528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65592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7656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89720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01784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13848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25912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37976" y="2157984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53528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5592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77656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13848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25912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237976" y="2670048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29400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41464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53528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65592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77656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89720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01784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213848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25912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37976" y="318211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29400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41464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53528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65592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77656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89720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701784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13848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25912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237976" y="3694176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29400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41464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53528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165592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77656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89720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01784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13848" y="420624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29400" y="48646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22008" y="48097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killed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366760" y="486460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659368" y="4809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survived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10012680" y="4809744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url.py · 58 mutants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77240" y="5440680"/>
            <a:ext cx="502920" cy="502920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7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5571439"/>
            <a:ext cx="241402" cy="241402"/>
          </a:xfrm>
          <a:prstGeom prst="rect">
            <a:avLst/>
          </a:prstGeom>
        </p:spPr>
      </p:pic>
      <p:sp>
        <p:nvSpPr>
          <p:cNvPr id="76" name="Text 73"/>
          <p:cNvSpPr txBox="1"/>
          <p:nvPr/>
        </p:nvSpPr>
        <p:spPr>
          <a:xfrm>
            <a:off x="1508760" y="52578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“write more tests” prompt </a:t>
            </a:r>
            <a:pPr indent="0" marL="0">
              <a:buNone/>
            </a:pPr>
            <a:r>
              <a:rPr lang="en-US" sz="17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today’s behaviour, bugs included: in finance it wrote tests around the broken ISIN check digit.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in Bob runs the whole 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16352" y="2057400"/>
            <a:ext cx="2459736" cy="3383280"/>
          </a:xfrm>
          <a:prstGeom prst="roundRect">
            <a:avLst>
              <a:gd name="adj" fmla="val 5204"/>
            </a:avLst>
          </a:prstGeom>
          <a:ln w="15875">
            <a:solidFill>
              <a:srgbClr val="7C5CD8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2816352" y="1755648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86100"/>
            <a:ext cx="1783080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086100"/>
            <a:ext cx="1453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see split A; split B stays hidden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71800" y="224028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36392" y="2240280"/>
            <a:ext cx="1819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subagent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71800" y="393192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36392" y="3931920"/>
            <a:ext cx="1819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subagent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from RFC / Wikipedia PDFs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3086100"/>
            <a:ext cx="1417320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33872" y="3086100"/>
            <a:ext cx="1088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new test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8120" y="2240280"/>
            <a:ext cx="3822192" cy="1325880"/>
          </a:xfrm>
          <a:prstGeom prst="roundRect">
            <a:avLst>
              <a:gd name="adj" fmla="val 827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82712" y="2240280"/>
            <a:ext cx="349300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spec violation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C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failing test is kept, categorised and reviewed as a bug report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818120" y="3931920"/>
            <a:ext cx="1783080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82712" y="3931920"/>
            <a:ext cx="1453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subagent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survivors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0" y="3931920"/>
            <a:ext cx="1581912" cy="1325880"/>
          </a:xfrm>
          <a:prstGeom prst="roundRect">
            <a:avLst>
              <a:gd name="adj" fmla="val 8276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22992" y="3931920"/>
            <a:ext cx="1252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9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6D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split B + exam 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V="1">
            <a:off x="2331720" y="2903220"/>
            <a:ext cx="640080" cy="845820"/>
          </a:xfrm>
          <a:prstGeom prst="line">
            <a:avLst/>
          </a:prstGeom>
          <a:noFill/>
          <a:ln w="22225">
            <a:solidFill>
              <a:srgbClr val="8A90A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1720" y="3749040"/>
            <a:ext cx="640080" cy="845820"/>
          </a:xfrm>
          <a:prstGeom prst="line">
            <a:avLst/>
          </a:prstGeom>
          <a:noFill/>
          <a:ln w="22225">
            <a:solidFill>
              <a:srgbClr val="8A90A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0" y="2903220"/>
            <a:ext cx="548640" cy="845820"/>
          </a:xfrm>
          <a:prstGeom prst="line">
            <a:avLst/>
          </a:prstGeom>
          <a:noFill/>
          <a:ln w="22225">
            <a:solidFill>
              <a:srgbClr val="8A90A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5120640" y="3749040"/>
            <a:ext cx="548640" cy="845820"/>
          </a:xfrm>
          <a:prstGeom prst="line">
            <a:avLst/>
          </a:prstGeom>
          <a:noFill/>
          <a:ln w="22225">
            <a:solidFill>
              <a:srgbClr val="8A90A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7086600" y="2903220"/>
            <a:ext cx="731520" cy="845820"/>
          </a:xfrm>
          <a:prstGeom prst="line">
            <a:avLst/>
          </a:prstGeom>
          <a:noFill/>
          <a:ln w="22225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86600" y="3749040"/>
            <a:ext cx="731520" cy="845820"/>
          </a:xfrm>
          <a:prstGeom prst="line">
            <a:avLst/>
          </a:prstGeom>
          <a:noFill/>
          <a:ln w="22225">
            <a:solidFill>
              <a:srgbClr val="8A90A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4594860"/>
            <a:ext cx="457200" cy="914"/>
          </a:xfrm>
          <a:prstGeom prst="line">
            <a:avLst/>
          </a:prstGeom>
          <a:noFill/>
          <a:ln w="22225">
            <a:solidFill>
              <a:srgbClr val="8A90A2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077456" y="285292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77456" y="44439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5760720" cy="457200"/>
          </a:xfrm>
          <a:prstGeom prst="roundRect">
            <a:avLst>
              <a:gd name="adj" fmla="val 20000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152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A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›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the mutant-hunter skill on the module url.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566928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is deterministic and never calls an LLM.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FEATURES USED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Bob features, each doing real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8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219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56232"/>
            <a:ext cx="232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task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78608"/>
            <a:ext cx="3057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260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build plan, sub-tasks ST1–ST9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7304" y="160020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1624" y="187452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14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025" y="202192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43144" y="1856232"/>
            <a:ext cx="232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code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4611624" y="2578608"/>
            <a:ext cx="3057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11624" y="29260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harness, stats, dashboard, 128 unit tests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25968" y="160020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00288" y="187452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20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689" y="202192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31808" y="1856232"/>
            <a:ext cx="232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sentence</a:t>
            </a:r>
            <a:endParaRPr lang="en-US" sz="3000" dirty="0"/>
          </a:p>
        </p:txBody>
      </p:sp>
      <p:sp>
        <p:nvSpPr>
          <p:cNvPr id="22" name="Text 17"/>
          <p:cNvSpPr txBox="1"/>
          <p:nvPr/>
        </p:nvSpPr>
        <p:spPr>
          <a:xfrm>
            <a:off x="8400288" y="2578608"/>
            <a:ext cx="3057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8400288" y="292608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whole pipeline on a module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379476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26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4216481"/>
            <a:ext cx="272125" cy="27212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54480" y="4050792"/>
            <a:ext cx="232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rules file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" y="4773168"/>
            <a:ext cx="3057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1206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first; failing tests are never deleted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337304" y="379476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11624" y="406908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32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025" y="4216481"/>
            <a:ext cx="272125" cy="27212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343144" y="4050792"/>
            <a:ext cx="232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34" name="Text 27"/>
          <p:cNvSpPr txBox="1"/>
          <p:nvPr/>
        </p:nvSpPr>
        <p:spPr>
          <a:xfrm>
            <a:off x="4611624" y="4773168"/>
            <a:ext cx="3057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subagents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4611624" y="51206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+ spec side by side, targeted on url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125968" y="3794760"/>
            <a:ext cx="3514344" cy="1920240"/>
          </a:xfrm>
          <a:prstGeom prst="roundRect">
            <a:avLst>
              <a:gd name="adj" fmla="val 571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00288" y="406908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38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7689" y="4216481"/>
            <a:ext cx="272125" cy="27212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131808" y="4050792"/>
            <a:ext cx="2325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137</a:t>
            </a:r>
            <a:endParaRPr lang="en-US" sz="3000" dirty="0"/>
          </a:p>
        </p:txBody>
      </p:sp>
      <p:sp>
        <p:nvSpPr>
          <p:cNvPr id="40" name="Text 32"/>
          <p:cNvSpPr txBox="1"/>
          <p:nvPr/>
        </p:nvSpPr>
        <p:spPr>
          <a:xfrm>
            <a:off x="8400288" y="4773168"/>
            <a:ext cx="3057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8400288" y="5120640"/>
            <a:ext cx="3057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PDFs turned into numbered rules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Bob tasks (Evan 8, chu 14) · ≈88.4 Bobcoins · every session exported in bob_sessions/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HIDDEN SPLIT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split B: an honest tie with the plain prompt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554480"/>
          <a:ext cx="7223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961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rate on 141 hidden mutants, 4 main modules. Whiskers: 95% Wilson CI (B0 52.0–68.0, B1 69.7–83.4, MH 70.5–84.1).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6916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BY ONLY ONE SUITE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2057400"/>
            <a:ext cx="1659636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103120"/>
            <a:ext cx="1659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852928"/>
            <a:ext cx="1659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only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980676" y="2057400"/>
            <a:ext cx="1659636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80676" y="2103120"/>
            <a:ext cx="1659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9980676" y="2852928"/>
            <a:ext cx="1659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only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61188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p = 1.00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069080"/>
            <a:ext cx="3547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AI suites add ~17 points over the human tests. On split B, MutantHunter does not beat the plain prompt.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EXAM 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C, unseen operators: a trend toward MH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554480"/>
          <a:ext cx="7223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961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rate on 146 mutants from operators that did not exist while the tests were written. Whiskers: 95% Wilson CI (B0 57.7–73.0, B1 69.2–82.8, MH 75.2–87.5).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6916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BY ONLY ONE SUITE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92440" y="2057400"/>
            <a:ext cx="1659636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103120"/>
            <a:ext cx="1659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852928"/>
            <a:ext cx="1659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only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980676" y="2057400"/>
            <a:ext cx="1659636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980676" y="2103120"/>
            <a:ext cx="16596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9980676" y="2852928"/>
            <a:ext cx="16596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only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0" y="3611880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p = 0.0215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069080"/>
            <a:ext cx="3547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after Bonferroni correction over 4 tests, so a trend: spec-derived tests seem to generalise better to unseen bugs.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BUG REPLAY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upstream bugs, re-introduced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commit is reverted and every suite runs on the pre-fix code. Two bugs still escape today’s human tests: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688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4688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402b351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mac_address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926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mixed ‘:’ and ‘-’ separators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27889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7889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caught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3957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prompt (B1)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12680" y="27889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1268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caught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0690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069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41f3d6d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148840" y="40507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hostname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526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single-character labels (RFC 1123 allows them)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995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tests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4389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missed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995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389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caught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29800" y="399592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prompt (B1)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012680" y="43891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1268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caught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6000"/>
            </a:avLst>
          </a:prstGeom>
          <a:ln w="12700">
            <a:solidFill>
              <a:srgbClr val="E2DE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4406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</a:t>
            </a:r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 prompt catches both too. Context only: on 8 url/email rows, human 7/8, MH 7/8, B1 5/8.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suspected violations, 5 confirmed bugs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017520" cy="804672"/>
          </a:xfrm>
          <a:prstGeom prst="roundRect">
            <a:avLst>
              <a:gd name="adj" fmla="val 11364"/>
            </a:avLst>
          </a:prstGeom>
          <a:solidFill>
            <a:srgbClr val="EAE4FB"/>
          </a:solidFill>
          <a:ln w="12700">
            <a:solidFill>
              <a:srgbClr val="EAE4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suspected violations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2514600" cy="804672"/>
          </a:xfrm>
          <a:prstGeom prst="roundRect">
            <a:avLst>
              <a:gd name="adj" fmla="val 11364"/>
            </a:avLst>
          </a:prstGeom>
          <a:solidFill>
            <a:srgbClr val="C9BCF3"/>
          </a:solidFill>
          <a:ln w="12700">
            <a:solidFill>
              <a:srgbClr val="C9BC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15768"/>
            <a:ext cx="2240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entries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39896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bugs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920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rejected as library design choices (single-character TLD, dotted MAC, port 0, strict_query)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691640"/>
          <a:ext cx="7708392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201168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(src/validators/)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ISIN check digit is never verified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finance.py:34-51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known, #440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capped at 61 chars; RFC 1123 says 63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hostname.py:27-29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[IPv6:…] literal (RFC 5321) 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email.py:70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Quoted email local part with space or @ 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email.py:58, 93-95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with empty port rejected (RFC 3986 allows)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1B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hostname.py:18-21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3931920" y="5715000"/>
            <a:ext cx="7708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still present on upstream master (checked 2026-09-26); 4 are not reported upstream.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HONESTY AND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costs, and where it falls short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BOBCOINS FOR 6 MODULES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920240"/>
          <a:ext cx="55778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206240"/>
            <a:ext cx="5303520" cy="1783080"/>
          </a:xfrm>
          <a:prstGeom prst="roundRect">
            <a:avLst>
              <a:gd name="adj" fmla="val 6154"/>
            </a:avLst>
          </a:prstGeom>
          <a:solidFill>
            <a:srgbClr val="F4F1FD"/>
          </a:solidFill>
          <a:ln w="12700">
            <a:solidFill>
              <a:srgbClr val="F4F1F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31596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≈13×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431596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plain prompt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303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per module: 6.1 Bobcoins, 9.2 minutes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WE REPORT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2103120"/>
            <a:ext cx="566928" cy="566928"/>
          </a:xfrm>
          <a:prstGeom prst="ellipse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14" name="Image 0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225052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60920" y="2057400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6 of 12 planned modules run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583680" y="3035808"/>
            <a:ext cx="566928" cy="566928"/>
          </a:xfrm>
          <a:prstGeom prst="ellipse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17" name="Image 1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81" y="318320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60920" y="2990088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B: no gain over the plain prompt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583680" y="3968496"/>
            <a:ext cx="566928" cy="566928"/>
          </a:xfrm>
          <a:prstGeom prst="ellipse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20" name="Image 2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81" y="4115897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60920" y="3922776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C: a trend, not significant after correction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6583680" y="4901184"/>
            <a:ext cx="566928" cy="566928"/>
          </a:xfrm>
          <a:prstGeom prst="ellipse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23" name="Image 3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81" y="5048585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60920" y="4855464"/>
            <a:ext cx="4279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library, one seed, simple operators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6583680" y="58978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comes with n, a 95% CI and its cost.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5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LINKS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one sentence in IBM Bob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MutantHunter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7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390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63677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skill, test generation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566928" cy="566928"/>
          </a:xfrm>
          <a:prstGeom prst="ellipse">
            <a:avLst/>
          </a:prstGeom>
          <a:solidFill>
            <a:srgbClr val="7C5CD8"/>
          </a:solidFill>
          <a:ln w="12700">
            <a:solidFill>
              <a:srgbClr val="7C5CD8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270772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505456"/>
            <a:ext cx="4480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dashboard, video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1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371356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1129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900" dirty="0"/>
          </a:p>
          <a:p>
            <a:pPr indent="0" marL="0">
              <a:buNone/>
            </a:pPr>
            <a:r>
              <a:rPr lang="en-US" sz="1500" u="sng" dirty="0">
                <a:solidFill>
                  <a:srgbClr val="3B82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github.com/hanlinji4002/MutantHunter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548640" y="4434840"/>
            <a:ext cx="566928" cy="566928"/>
          </a:xfrm>
          <a:prstGeom prst="ellipse">
            <a:avLst/>
          </a:prstGeom>
          <a:solidFill>
            <a:srgbClr val="1E1B3A"/>
          </a:solidFill>
          <a:ln w="12700">
            <a:solidFill>
              <a:srgbClr val="1E1B3A"/>
            </a:solidFill>
            <a:prstDash val="solid"/>
          </a:ln>
        </p:spPr>
      </p:sp>
      <p:pic>
        <p:nvPicPr>
          <p:cNvPr id="16" name="Image 3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458224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4379976"/>
            <a:ext cx="4754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900" dirty="0"/>
          </a:p>
          <a:p>
            <a:pPr indent="0" marL="0">
              <a:buNone/>
            </a:pPr>
            <a:r>
              <a:rPr lang="en-US" sz="1500" u="sng" dirty="0">
                <a:solidFill>
                  <a:srgbClr val="3B82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hanlinji4002.github.io/MutantHunter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4406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Spec-derived tests turn disagreements with the specification into reviewable bug reports.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089904" y="2130552"/>
            <a:ext cx="5660136" cy="2667762"/>
          </a:xfrm>
          <a:prstGeom prst="roundRect">
            <a:avLst>
              <a:gd name="adj" fmla="val 3428"/>
            </a:avLst>
          </a:prstGeom>
          <a:solidFill>
            <a:srgbClr val="FFFFFF"/>
          </a:solidFill>
          <a:ln w="12700">
            <a:solidFill>
              <a:srgbClr val="E2DE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4" descr="Screenshot of the MutantHunter dashboar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2240280"/>
            <a:ext cx="5440680" cy="244830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89904" y="4962906"/>
            <a:ext cx="5660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dashboard: pooled scores with 95% CIs, per-module results and every suspected violation.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IBM Bob 2.0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MutantHunter</dc:title>
  <dc:subject>PptxGenJS Presentation</dc:subject>
  <dc:creator>Evan and chu</dc:creator>
  <cp:lastModifiedBy>Evan and chu</cp:lastModifiedBy>
  <cp:revision>1</cp:revision>
  <dcterms:created xsi:type="dcterms:W3CDTF">2026-09-26T16:00:13Z</dcterms:created>
  <dcterms:modified xsi:type="dcterms:W3CDTF">2026-09-26T16:00:13Z</dcterms:modified>
</cp:coreProperties>
</file>